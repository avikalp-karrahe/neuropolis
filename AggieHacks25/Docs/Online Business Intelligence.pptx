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43.jpeg" Type="http://schemas.openxmlformats.org/officeDocument/2006/relationships/image"/><Relationship Id="rId4" Target="../media/image44.jpeg" Type="http://schemas.openxmlformats.org/officeDocument/2006/relationships/image"/><Relationship Id="rId5" Target="../media/image4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olab.research.google.com/drive/138C8DI8geB8Ltsk_VbqN-lHsd497VMB_?usp=sharing" TargetMode="External" Type="http://schemas.openxmlformats.org/officeDocument/2006/relationships/hyperlink"/><Relationship Id="rId11" Target="https://docs.google.com/document/d/1b3Ni33DdUls2w1q-RhJCb-WuwAOj3ImyWdIz5i2hL-M/edit?usp=sharing" TargetMode="External" Type="http://schemas.openxmlformats.org/officeDocument/2006/relationships/hyperlink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https://docs.google.com/document/d/1rLofHxQBDivH1W4DWxR3FTMTJSaRJD-ZPef3EEbkK1w/edit?usp=sharing" TargetMode="External" Type="http://schemas.openxmlformats.org/officeDocument/2006/relationships/hyperlink"/><Relationship Id="rId5" Target="https://colab.research.google.com/drive/1wYfaZ3K7YrOXjgDQWnhrrsYhQ1z3BPCA?usp=sharing" TargetMode="External" Type="http://schemas.openxmlformats.org/officeDocument/2006/relationships/hyperlink"/><Relationship Id="rId6" Target="https://colab.research.google.com/drive/1yjw9BFEdrS39wPlqio3G05jNga4SmW63?usp=sharing" TargetMode="External" Type="http://schemas.openxmlformats.org/officeDocument/2006/relationships/hyperlink"/><Relationship Id="rId7" Target="https://drive.google.com/file/d/12Xdmx-uU8g_MAGjfZOQXsQUQzSpNC3Qi/view?usp=sharing" TargetMode="External" Type="http://schemas.openxmlformats.org/officeDocument/2006/relationships/hyperlink"/><Relationship Id="rId8" Target="https://docs.google.com/document/d/1nLjXpWE3XKXB4vDezPiH9n55J_4tbLU8k_O6Jqo2rLI/edit?usp=sharing" TargetMode="External" Type="http://schemas.openxmlformats.org/officeDocument/2006/relationships/hyperlink"/><Relationship Id="rId9" Target="https://drive.google.com/file/d/1lh2CgVbfKPJ2PmMDgAGC61-zm9QT6-vy/view?usp=sharing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floodnet.nyc" TargetMode="External" Type="http://schemas.openxmlformats.org/officeDocument/2006/relationships/hyperlink"/><Relationship Id="rId11" Target="https://pandas.pydata.org/docs/user_guide/index.html" TargetMode="External" Type="http://schemas.openxmlformats.org/officeDocument/2006/relationships/hyperlink"/><Relationship Id="rId12" Target="https://docs.streamlit.io/get-started" TargetMode="External" Type="http://schemas.openxmlformats.org/officeDocument/2006/relationships/hyperlink"/><Relationship Id="rId13" Target="https://www.ebsco.com/research-starters/earth-and-atmospheric-sciences/hurricane-ian#:~:text=Hurricane%20Ian%20was%20a%20high,Cuba%2C%20and%20one%20in%20Virginia." TargetMode="External" Type="http://schemas.openxmlformats.org/officeDocument/2006/relationships/hyperlink"/><Relationship Id="rId14" Target="https://www.ebsco.com/research-starters/earth-and-atmospheric-sciences/hurricane-ian#:~:text=Hurricane%20Ian%20was%20a%20high,Cuba%2C%20and%20one%20in%20Virginia." TargetMode="External" Type="http://schemas.openxmlformats.org/officeDocument/2006/relationships/hyperlink"/><Relationship Id="rId2" Target="https://www.sciencedirect.com/science/article/pii/S2405844023042925" TargetMode="External" Type="http://schemas.openxmlformats.org/officeDocument/2006/relationships/hyperlink"/><Relationship Id="rId3" Target="https://www.arxiv.org/pdf/2503.00567" TargetMode="External" Type="http://schemas.openxmlformats.org/officeDocument/2006/relationships/hyperlink"/><Relationship Id="rId4" Target="https://pure.iiasa.ac.at/id/eprint/20429/1/s11115-025-00815-2.pdf" TargetMode="External" Type="http://schemas.openxmlformats.org/officeDocument/2006/relationships/hyperlink"/><Relationship Id="rId5" Target="https://www.nowpublishers.com/article/DownloadSummary/ISY-037" TargetMode="External" Type="http://schemas.openxmlformats.org/officeDocument/2006/relationships/hyperlink"/><Relationship Id="rId6" Target="https://www.researchgate.net/publication/381420051_Machine_Learning_for_Disaster_Risk_Reduction_-_Review_and_Research_Directions" TargetMode="External" Type="http://schemas.openxmlformats.org/officeDocument/2006/relationships/hyperlink"/><Relationship Id="rId7" Target="https://www.preswald.com" TargetMode="External" Type="http://schemas.openxmlformats.org/officeDocument/2006/relationships/hyperlink"/><Relationship Id="rId8" Target="https://www.lfdecentralizedtrust.org/projects/fabric" TargetMode="External" Type="http://schemas.openxmlformats.org/officeDocument/2006/relationships/hyperlink"/><Relationship Id="rId9" Target="https://www.youtube.com/watch?v=1ORrdusUzeg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06121">
            <a:off x="-421180" y="-792793"/>
            <a:ext cx="19130360" cy="11872586"/>
          </a:xfrm>
          <a:custGeom>
            <a:avLst/>
            <a:gdLst/>
            <a:ahLst/>
            <a:cxnLst/>
            <a:rect r="r" b="b" t="t" l="l"/>
            <a:pathLst>
              <a:path h="11872586" w="19130360">
                <a:moveTo>
                  <a:pt x="0" y="1626344"/>
                </a:moveTo>
                <a:lnTo>
                  <a:pt x="18215541" y="0"/>
                </a:lnTo>
                <a:lnTo>
                  <a:pt x="19130360" y="10246242"/>
                </a:lnTo>
                <a:lnTo>
                  <a:pt x="914819" y="11872586"/>
                </a:lnTo>
                <a:lnTo>
                  <a:pt x="0" y="1626344"/>
                </a:lnTo>
                <a:close/>
              </a:path>
            </a:pathLst>
          </a:custGeom>
          <a:blipFill>
            <a:blip r:embed="rId2"/>
            <a:stretch>
              <a:fillRect l="-18195" t="-5600" r="-6955" b="-130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25597" y="2470524"/>
            <a:ext cx="7343257" cy="4907503"/>
            <a:chOff x="0" y="0"/>
            <a:chExt cx="772556" cy="516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2556" cy="516300"/>
            </a:xfrm>
            <a:custGeom>
              <a:avLst/>
              <a:gdLst/>
              <a:ahLst/>
              <a:cxnLst/>
              <a:rect r="r" b="b" t="t" l="l"/>
              <a:pathLst>
                <a:path h="516300" w="772556">
                  <a:moveTo>
                    <a:pt x="772556" y="258150"/>
                  </a:moveTo>
                  <a:lnTo>
                    <a:pt x="569356" y="516300"/>
                  </a:lnTo>
                  <a:lnTo>
                    <a:pt x="203200" y="516300"/>
                  </a:lnTo>
                  <a:lnTo>
                    <a:pt x="0" y="258150"/>
                  </a:lnTo>
                  <a:lnTo>
                    <a:pt x="203200" y="0"/>
                  </a:lnTo>
                  <a:lnTo>
                    <a:pt x="569356" y="0"/>
                  </a:lnTo>
                  <a:lnTo>
                    <a:pt x="772556" y="258150"/>
                  </a:lnTo>
                  <a:close/>
                </a:path>
              </a:pathLst>
            </a:custGeom>
            <a:solidFill>
              <a:srgbClr val="0856B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66675"/>
              <a:ext cx="543956" cy="58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14907" y="3004620"/>
            <a:ext cx="5170800" cy="4281040"/>
            <a:chOff x="0" y="0"/>
            <a:chExt cx="843674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3674" cy="698500"/>
            </a:xfrm>
            <a:custGeom>
              <a:avLst/>
              <a:gdLst/>
              <a:ahLst/>
              <a:cxnLst/>
              <a:rect r="r" b="b" t="t" l="l"/>
              <a:pathLst>
                <a:path h="698500" w="843674">
                  <a:moveTo>
                    <a:pt x="843674" y="349250"/>
                  </a:moveTo>
                  <a:lnTo>
                    <a:pt x="64047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40474" y="0"/>
                  </a:lnTo>
                  <a:lnTo>
                    <a:pt x="843674" y="3492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66675"/>
              <a:ext cx="61507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5774" y="-1683930"/>
            <a:ext cx="15768557" cy="13654860"/>
            <a:chOff x="0" y="0"/>
            <a:chExt cx="4282440" cy="370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5064" t="0" r="-15064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11247" y="1261865"/>
            <a:ext cx="886590" cy="856668"/>
          </a:xfrm>
          <a:custGeom>
            <a:avLst/>
            <a:gdLst/>
            <a:ahLst/>
            <a:cxnLst/>
            <a:rect r="r" b="b" t="t" l="l"/>
            <a:pathLst>
              <a:path h="856668" w="886590">
                <a:moveTo>
                  <a:pt x="0" y="0"/>
                </a:moveTo>
                <a:lnTo>
                  <a:pt x="886591" y="0"/>
                </a:lnTo>
                <a:lnTo>
                  <a:pt x="886591" y="856667"/>
                </a:lnTo>
                <a:lnTo>
                  <a:pt x="0" y="85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1214" y="2958001"/>
            <a:ext cx="5833672" cy="101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3"/>
              </a:lnSpc>
            </a:pPr>
            <a:r>
              <a:rPr lang="en-US" sz="668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NEUROPOLIS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55027" y="2470524"/>
            <a:ext cx="3112280" cy="5349232"/>
            <a:chOff x="0" y="0"/>
            <a:chExt cx="4064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698500"/>
            </a:xfrm>
            <a:custGeom>
              <a:avLst/>
              <a:gdLst/>
              <a:ahLst/>
              <a:cxnLst/>
              <a:rect r="r" b="b" t="t" l="l"/>
              <a:pathLst>
                <a:path h="698500" w="406400">
                  <a:moveTo>
                    <a:pt x="406400" y="349250"/>
                  </a:moveTo>
                  <a:lnTo>
                    <a:pt x="2032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03200" y="0"/>
                  </a:lnTo>
                  <a:lnTo>
                    <a:pt x="406400" y="349250"/>
                  </a:lnTo>
                  <a:close/>
                </a:path>
              </a:pathLst>
            </a:custGeom>
            <a:solidFill>
              <a:srgbClr val="004AAD">
                <a:alpha val="5882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66675"/>
              <a:ext cx="1778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763109" y="1466690"/>
            <a:ext cx="3451159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Farmers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2069" y="4126010"/>
            <a:ext cx="5833672" cy="39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6"/>
              </a:lnSpc>
              <a:spcBef>
                <a:spcPct val="0"/>
              </a:spcBef>
            </a:pPr>
            <a:r>
              <a:rPr lang="en-US" b="true" sz="21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AI-Power</a:t>
            </a:r>
            <a:r>
              <a:rPr lang="en-US" b="true" sz="21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 Crisis Intelligence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21214" y="4660727"/>
            <a:ext cx="2086570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Aggie Hacks ‘25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95291" y="9640309"/>
            <a:ext cx="1528018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 21, 2025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15894" y="4436475"/>
            <a:ext cx="7066524" cy="4812300"/>
            <a:chOff x="0" y="0"/>
            <a:chExt cx="9422032" cy="64164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5950" r="0" b="15950"/>
            <a:stretch>
              <a:fillRect/>
            </a:stretch>
          </p:blipFill>
          <p:spPr>
            <a:xfrm flipH="false" flipV="false">
              <a:off x="0" y="0"/>
              <a:ext cx="9422032" cy="64164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76693" y="7177342"/>
            <a:ext cx="2663797" cy="1443020"/>
            <a:chOff x="0" y="0"/>
            <a:chExt cx="701576" cy="3800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576" cy="380055"/>
            </a:xfrm>
            <a:custGeom>
              <a:avLst/>
              <a:gdLst/>
              <a:ahLst/>
              <a:cxnLst/>
              <a:rect r="r" b="b" t="t" l="l"/>
              <a:pathLst>
                <a:path h="380055" w="701576">
                  <a:moveTo>
                    <a:pt x="0" y="0"/>
                  </a:moveTo>
                  <a:lnTo>
                    <a:pt x="701576" y="0"/>
                  </a:lnTo>
                  <a:lnTo>
                    <a:pt x="701576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01576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0768" y="7177342"/>
            <a:ext cx="2663797" cy="1443020"/>
            <a:chOff x="0" y="0"/>
            <a:chExt cx="701576" cy="3800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1576" cy="380055"/>
            </a:xfrm>
            <a:custGeom>
              <a:avLst/>
              <a:gdLst/>
              <a:ahLst/>
              <a:cxnLst/>
              <a:rect r="r" b="b" t="t" l="l"/>
              <a:pathLst>
                <a:path h="380055" w="701576">
                  <a:moveTo>
                    <a:pt x="0" y="0"/>
                  </a:moveTo>
                  <a:lnTo>
                    <a:pt x="701576" y="0"/>
                  </a:lnTo>
                  <a:lnTo>
                    <a:pt x="701576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701576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832446" y="6747188"/>
            <a:ext cx="1400440" cy="1400440"/>
          </a:xfrm>
          <a:custGeom>
            <a:avLst/>
            <a:gdLst/>
            <a:ahLst/>
            <a:cxnLst/>
            <a:rect r="r" b="b" t="t" l="l"/>
            <a:pathLst>
              <a:path h="1400440" w="1400440">
                <a:moveTo>
                  <a:pt x="0" y="0"/>
                </a:moveTo>
                <a:lnTo>
                  <a:pt x="1400441" y="0"/>
                </a:lnTo>
                <a:lnTo>
                  <a:pt x="1400441" y="1400440"/>
                </a:lnTo>
                <a:lnTo>
                  <a:pt x="0" y="1400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563627" y="6852150"/>
            <a:ext cx="1400440" cy="1400440"/>
          </a:xfrm>
          <a:custGeom>
            <a:avLst/>
            <a:gdLst/>
            <a:ahLst/>
            <a:cxnLst/>
            <a:rect r="r" b="b" t="t" l="l"/>
            <a:pathLst>
              <a:path h="1400440" w="1400440">
                <a:moveTo>
                  <a:pt x="0" y="0"/>
                </a:moveTo>
                <a:lnTo>
                  <a:pt x="1400440" y="0"/>
                </a:lnTo>
                <a:lnTo>
                  <a:pt x="1400440" y="1400440"/>
                </a:lnTo>
                <a:lnTo>
                  <a:pt x="0" y="1400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58181" y="1767219"/>
            <a:ext cx="4059041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5426" y="3279205"/>
            <a:ext cx="8667405" cy="219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3"/>
              </a:lnSpc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have developed an AI-powered Crisis Intelligence System designed to help smart cities anticipate, manage, and respond to high-risk cascading disasters in real-time. This AI-powered crisis intelligence system transforms fragmented urban data into clarity, control, and coordinated action during multi-disaster scenarios.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55995" y="3182818"/>
            <a:ext cx="4858973" cy="85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2090" b="true">
                <a:solidFill>
                  <a:srgbClr val="031D58"/>
                </a:solidFill>
                <a:latin typeface="Poppins Bold"/>
                <a:ea typeface="Poppins Bold"/>
                <a:cs typeface="Poppins Bold"/>
                <a:sym typeface="Poppins Bold"/>
              </a:rPr>
              <a:t>Neuro (Brain) + Polis (City)</a:t>
            </a:r>
          </a:p>
          <a:p>
            <a:pPr algn="l">
              <a:lnSpc>
                <a:spcPts val="2194"/>
              </a:lnSpc>
            </a:pPr>
          </a:p>
          <a:p>
            <a:pPr algn="l">
              <a:lnSpc>
                <a:spcPts val="2194"/>
              </a:lnSpc>
            </a:pPr>
            <a:r>
              <a:rPr lang="en-US" sz="2090">
                <a:solidFill>
                  <a:srgbClr val="656565"/>
                </a:solidFill>
                <a:latin typeface="Poppins"/>
                <a:ea typeface="Poppins"/>
                <a:cs typeface="Poppins"/>
                <a:sym typeface="Poppins"/>
              </a:rPr>
              <a:t>From Signal to Strategy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74587" y="8130293"/>
            <a:ext cx="1978521" cy="112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</a:p>
          <a:p>
            <a:pPr algn="ctr">
              <a:lnSpc>
                <a:spcPts val="2926"/>
              </a:lnSpc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Misinformation</a:t>
            </a:r>
          </a:p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68323" y="8130293"/>
            <a:ext cx="1528614" cy="112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redicts </a:t>
            </a:r>
          </a:p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Cascading </a:t>
            </a:r>
          </a:p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Disasters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5244" y="5944491"/>
            <a:ext cx="636947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NeuroPolis uses a two-pronged approach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225878" y="3376508"/>
            <a:ext cx="277692" cy="462059"/>
            <a:chOff x="0" y="0"/>
            <a:chExt cx="406400" cy="6762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D5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714287" y="3078506"/>
            <a:ext cx="6356958" cy="5910499"/>
          </a:xfrm>
          <a:custGeom>
            <a:avLst/>
            <a:gdLst/>
            <a:ahLst/>
            <a:cxnLst/>
            <a:rect r="r" b="b" t="t" l="l"/>
            <a:pathLst>
              <a:path h="5910499" w="6356958">
                <a:moveTo>
                  <a:pt x="0" y="0"/>
                </a:moveTo>
                <a:lnTo>
                  <a:pt x="6356958" y="0"/>
                </a:lnTo>
                <a:lnTo>
                  <a:pt x="6356958" y="5910499"/>
                </a:lnTo>
                <a:lnTo>
                  <a:pt x="0" y="5910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55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3636024"/>
            <a:ext cx="8370750" cy="508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3"/>
              </a:lnSpc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modern cities, one crisis triggers another. A flood knocks out power. The outage overwhelms hospitals. Panic spreads online, fueled by misinformation. What starts as a single event escalates into a city-wide emergency.</a:t>
            </a:r>
          </a:p>
          <a:p>
            <a:pPr algn="just">
              <a:lnSpc>
                <a:spcPts val="2853"/>
              </a:lnSpc>
            </a:pPr>
          </a:p>
          <a:p>
            <a:pPr algn="just">
              <a:lnSpc>
                <a:spcPts val="2853"/>
              </a:lnSpc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Crisis teams aren’t short on data—they’re drowning in it. Fragmented systems, delays, and fake news slow down response and cloud decision-making.</a:t>
            </a:r>
          </a:p>
          <a:p>
            <a:pPr algn="just">
              <a:lnSpc>
                <a:spcPts val="2853"/>
              </a:lnSpc>
            </a:pPr>
          </a:p>
          <a:p>
            <a:pPr algn="just">
              <a:lnSpc>
                <a:spcPts val="2853"/>
              </a:lnSpc>
            </a:pPr>
            <a:r>
              <a:rPr lang="en-US" sz="23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stay ahead, cities need more than alerts. They need systems that connect the dots, forecast what’s next, and coordinate real-time action.</a:t>
            </a:r>
          </a:p>
          <a:p>
            <a:pPr algn="just">
              <a:lnSpc>
                <a:spcPts val="285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018164" y="1767219"/>
            <a:ext cx="3448603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29975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2901342"/>
            <a:ext cx="4235323" cy="6356958"/>
          </a:xfrm>
          <a:custGeom>
            <a:avLst/>
            <a:gdLst/>
            <a:ahLst/>
            <a:cxnLst/>
            <a:rect r="r" b="b" t="t" l="l"/>
            <a:pathLst>
              <a:path h="6356958" w="4235323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51587" y="7104924"/>
            <a:ext cx="1178902" cy="1178902"/>
          </a:xfrm>
          <a:custGeom>
            <a:avLst/>
            <a:gdLst/>
            <a:ahLst/>
            <a:cxnLst/>
            <a:rect r="r" b="b" t="t" l="l"/>
            <a:pathLst>
              <a:path h="1178902" w="1178902">
                <a:moveTo>
                  <a:pt x="0" y="0"/>
                </a:moveTo>
                <a:lnTo>
                  <a:pt x="1178902" y="0"/>
                </a:lnTo>
                <a:lnTo>
                  <a:pt x="1178902" y="1178902"/>
                </a:lnTo>
                <a:lnTo>
                  <a:pt x="0" y="1178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621876" y="7104924"/>
            <a:ext cx="1123738" cy="1123738"/>
          </a:xfrm>
          <a:custGeom>
            <a:avLst/>
            <a:gdLst/>
            <a:ahLst/>
            <a:cxnLst/>
            <a:rect r="r" b="b" t="t" l="l"/>
            <a:pathLst>
              <a:path h="1123738" w="1123738">
                <a:moveTo>
                  <a:pt x="0" y="0"/>
                </a:moveTo>
                <a:lnTo>
                  <a:pt x="1123738" y="0"/>
                </a:lnTo>
                <a:lnTo>
                  <a:pt x="1123738" y="1123738"/>
                </a:lnTo>
                <a:lnTo>
                  <a:pt x="0" y="112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66315" y="7132506"/>
            <a:ext cx="1123738" cy="1123738"/>
          </a:xfrm>
          <a:custGeom>
            <a:avLst/>
            <a:gdLst/>
            <a:ahLst/>
            <a:cxnLst/>
            <a:rect r="r" b="b" t="t" l="l"/>
            <a:pathLst>
              <a:path h="1123738" w="1123738">
                <a:moveTo>
                  <a:pt x="0" y="0"/>
                </a:moveTo>
                <a:lnTo>
                  <a:pt x="1123738" y="0"/>
                </a:lnTo>
                <a:lnTo>
                  <a:pt x="1123738" y="1123738"/>
                </a:lnTo>
                <a:lnTo>
                  <a:pt x="0" y="112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514028" y="7144062"/>
            <a:ext cx="1100626" cy="1100626"/>
          </a:xfrm>
          <a:custGeom>
            <a:avLst/>
            <a:gdLst/>
            <a:ahLst/>
            <a:cxnLst/>
            <a:rect r="r" b="b" t="t" l="l"/>
            <a:pathLst>
              <a:path h="1100626" w="1100626">
                <a:moveTo>
                  <a:pt x="0" y="0"/>
                </a:moveTo>
                <a:lnTo>
                  <a:pt x="1100626" y="0"/>
                </a:lnTo>
                <a:lnTo>
                  <a:pt x="1100626" y="1100626"/>
                </a:lnTo>
                <a:lnTo>
                  <a:pt x="0" y="1100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58181" y="1767219"/>
            <a:ext cx="6200982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16642" y="2882292"/>
            <a:ext cx="9599530" cy="400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6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NeuroPolis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an AI-powered Crisis Intelligence System that acts as the brain of smart cities during emergencies—delivering real-time insights, predictive alerts, and trusted recommendations to manage cascading disasters with speed and clarity.</a:t>
            </a:r>
          </a:p>
          <a:p>
            <a:pPr algn="just">
              <a:lnSpc>
                <a:spcPts val="2856"/>
              </a:lnSpc>
            </a:pPr>
          </a:p>
          <a:p>
            <a:pPr algn="just">
              <a:lnSpc>
                <a:spcPts val="2856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its core, NeuroPolis fuses real-time signals and historical intelligence from sensors, hospital, utility logs, social media chatter, infrastructure networks, and climate records—transforming fragmented, multi-dimensional data into four action oriented capabilities for crisis response.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16642" y="8436235"/>
            <a:ext cx="2048792" cy="112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Predicting cascading disasters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59349" y="8436235"/>
            <a:ext cx="2048792" cy="75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Misinformation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98010" y="8436235"/>
            <a:ext cx="2048792" cy="75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Risk Visualization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42077" y="8436235"/>
            <a:ext cx="2474095" cy="112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Recommendation Engine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58181" y="3108459"/>
            <a:ext cx="729333" cy="7293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51741" y="3108459"/>
            <a:ext cx="729333" cy="72933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58181" y="4046243"/>
            <a:ext cx="729333" cy="72933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51741" y="4046243"/>
            <a:ext cx="729333" cy="72933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58181" y="4984028"/>
            <a:ext cx="729333" cy="72933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51741" y="4984028"/>
            <a:ext cx="729333" cy="72933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58181" y="5921813"/>
            <a:ext cx="729333" cy="72933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451741" y="5921813"/>
            <a:ext cx="729333" cy="72933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7561915" y="8835669"/>
            <a:ext cx="2332373" cy="820711"/>
          </a:xfrm>
          <a:custGeom>
            <a:avLst/>
            <a:gdLst/>
            <a:ahLst/>
            <a:cxnLst/>
            <a:rect r="r" b="b" t="t" l="l"/>
            <a:pathLst>
              <a:path h="820711" w="2332373">
                <a:moveTo>
                  <a:pt x="0" y="0"/>
                </a:moveTo>
                <a:lnTo>
                  <a:pt x="2332374" y="0"/>
                </a:lnTo>
                <a:lnTo>
                  <a:pt x="2332374" y="820710"/>
                </a:lnTo>
                <a:lnTo>
                  <a:pt x="0" y="82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974" t="0" r="-98868" b="-5169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74400" y="8648853"/>
            <a:ext cx="1942192" cy="1196724"/>
          </a:xfrm>
          <a:custGeom>
            <a:avLst/>
            <a:gdLst/>
            <a:ahLst/>
            <a:cxnLst/>
            <a:rect r="r" b="b" t="t" l="l"/>
            <a:pathLst>
              <a:path h="1196724" w="1942192">
                <a:moveTo>
                  <a:pt x="0" y="0"/>
                </a:moveTo>
                <a:lnTo>
                  <a:pt x="1942192" y="0"/>
                </a:lnTo>
                <a:lnTo>
                  <a:pt x="1942192" y="1196724"/>
                </a:lnTo>
                <a:lnTo>
                  <a:pt x="0" y="1196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416592" y="8878771"/>
            <a:ext cx="2735345" cy="759058"/>
          </a:xfrm>
          <a:custGeom>
            <a:avLst/>
            <a:gdLst/>
            <a:ahLst/>
            <a:cxnLst/>
            <a:rect r="r" b="b" t="t" l="l"/>
            <a:pathLst>
              <a:path h="759058" w="2735345">
                <a:moveTo>
                  <a:pt x="0" y="0"/>
                </a:moveTo>
                <a:lnTo>
                  <a:pt x="2735345" y="0"/>
                </a:lnTo>
                <a:lnTo>
                  <a:pt x="2735345" y="759058"/>
                </a:lnTo>
                <a:lnTo>
                  <a:pt x="0" y="759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760540" y="8602048"/>
            <a:ext cx="2324924" cy="1290333"/>
          </a:xfrm>
          <a:custGeom>
            <a:avLst/>
            <a:gdLst/>
            <a:ahLst/>
            <a:cxnLst/>
            <a:rect r="r" b="b" t="t" l="l"/>
            <a:pathLst>
              <a:path h="1290333" w="2324924">
                <a:moveTo>
                  <a:pt x="0" y="0"/>
                </a:moveTo>
                <a:lnTo>
                  <a:pt x="2324924" y="0"/>
                </a:lnTo>
                <a:lnTo>
                  <a:pt x="2324924" y="1290333"/>
                </a:lnTo>
                <a:lnTo>
                  <a:pt x="0" y="12903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286305" y="8820679"/>
            <a:ext cx="2108519" cy="853071"/>
          </a:xfrm>
          <a:custGeom>
            <a:avLst/>
            <a:gdLst/>
            <a:ahLst/>
            <a:cxnLst/>
            <a:rect r="r" b="b" t="t" l="l"/>
            <a:pathLst>
              <a:path h="853071" w="2108519">
                <a:moveTo>
                  <a:pt x="0" y="0"/>
                </a:moveTo>
                <a:lnTo>
                  <a:pt x="2108518" y="0"/>
                </a:lnTo>
                <a:lnTo>
                  <a:pt x="2108518" y="853071"/>
                </a:lnTo>
                <a:lnTo>
                  <a:pt x="0" y="853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812415" y="8969333"/>
            <a:ext cx="639326" cy="687046"/>
          </a:xfrm>
          <a:custGeom>
            <a:avLst/>
            <a:gdLst/>
            <a:ahLst/>
            <a:cxnLst/>
            <a:rect r="r" b="b" t="t" l="l"/>
            <a:pathLst>
              <a:path h="687046" w="639326">
                <a:moveTo>
                  <a:pt x="0" y="0"/>
                </a:moveTo>
                <a:lnTo>
                  <a:pt x="639326" y="0"/>
                </a:lnTo>
                <a:lnTo>
                  <a:pt x="639326" y="687046"/>
                </a:lnTo>
                <a:lnTo>
                  <a:pt x="0" y="687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764045" b="-2563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742689" y="8820679"/>
            <a:ext cx="787848" cy="787848"/>
          </a:xfrm>
          <a:custGeom>
            <a:avLst/>
            <a:gdLst/>
            <a:ahLst/>
            <a:cxnLst/>
            <a:rect r="r" b="b" t="t" l="l"/>
            <a:pathLst>
              <a:path h="787848" w="787848">
                <a:moveTo>
                  <a:pt x="0" y="0"/>
                </a:moveTo>
                <a:lnTo>
                  <a:pt x="787847" y="0"/>
                </a:lnTo>
                <a:lnTo>
                  <a:pt x="787847" y="787848"/>
                </a:lnTo>
                <a:lnTo>
                  <a:pt x="0" y="787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2058181" y="1761386"/>
            <a:ext cx="6338601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Approach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168355" y="3269576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956342" y="3264697"/>
            <a:ext cx="3856073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Exploratory Data Analysis*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61915" y="3269576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352524" y="3294184"/>
            <a:ext cx="5163651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&amp; Ledger Development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168355" y="4207361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56342" y="4231969"/>
            <a:ext cx="4219174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561915" y="4207361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349902" y="4231969"/>
            <a:ext cx="4123266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Impact Analysis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68355" y="5145146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56342" y="5169753"/>
            <a:ext cx="3315201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Visualization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561915" y="5145146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349902" y="5169753"/>
            <a:ext cx="4271869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Technical Documentation*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68355" y="6082930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956342" y="6107538"/>
            <a:ext cx="4495399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Building and Evaluation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61915" y="6082930"/>
            <a:ext cx="508985" cy="39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5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76714" y="7584596"/>
            <a:ext cx="6338601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349902" y="6107538"/>
            <a:ext cx="5166272" cy="33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Feasibility Check &amp; Optimization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215964" y="9844756"/>
            <a:ext cx="385607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*Refer to appendix for details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0768" y="3094381"/>
            <a:ext cx="3727970" cy="1443020"/>
            <a:chOff x="0" y="0"/>
            <a:chExt cx="981852" cy="3800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1852" cy="380055"/>
            </a:xfrm>
            <a:custGeom>
              <a:avLst/>
              <a:gdLst/>
              <a:ahLst/>
              <a:cxnLst/>
              <a:rect r="r" b="b" t="t" l="l"/>
              <a:pathLst>
                <a:path h="380055" w="981852">
                  <a:moveTo>
                    <a:pt x="0" y="0"/>
                  </a:moveTo>
                  <a:lnTo>
                    <a:pt x="981852" y="0"/>
                  </a:lnTo>
                  <a:lnTo>
                    <a:pt x="981852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81852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5584" y="3501320"/>
            <a:ext cx="277692" cy="462059"/>
            <a:chOff x="0" y="0"/>
            <a:chExt cx="406400" cy="6762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768" y="4940398"/>
            <a:ext cx="3727970" cy="1443020"/>
            <a:chOff x="0" y="0"/>
            <a:chExt cx="981852" cy="3800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1852" cy="380055"/>
            </a:xfrm>
            <a:custGeom>
              <a:avLst/>
              <a:gdLst/>
              <a:ahLst/>
              <a:cxnLst/>
              <a:rect r="r" b="b" t="t" l="l"/>
              <a:pathLst>
                <a:path h="380055" w="981852">
                  <a:moveTo>
                    <a:pt x="0" y="0"/>
                  </a:moveTo>
                  <a:lnTo>
                    <a:pt x="981852" y="0"/>
                  </a:lnTo>
                  <a:lnTo>
                    <a:pt x="981852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81852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0768" y="6786414"/>
            <a:ext cx="3727970" cy="1443020"/>
            <a:chOff x="0" y="0"/>
            <a:chExt cx="981852" cy="3800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1852" cy="380055"/>
            </a:xfrm>
            <a:custGeom>
              <a:avLst/>
              <a:gdLst/>
              <a:ahLst/>
              <a:cxnLst/>
              <a:rect r="r" b="b" t="t" l="l"/>
              <a:pathLst>
                <a:path h="380055" w="981852">
                  <a:moveTo>
                    <a:pt x="0" y="0"/>
                  </a:moveTo>
                  <a:lnTo>
                    <a:pt x="981852" y="0"/>
                  </a:lnTo>
                  <a:lnTo>
                    <a:pt x="981852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981852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0768" y="8632431"/>
            <a:ext cx="3727970" cy="1443020"/>
            <a:chOff x="0" y="0"/>
            <a:chExt cx="981852" cy="3800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1852" cy="380055"/>
            </a:xfrm>
            <a:custGeom>
              <a:avLst/>
              <a:gdLst/>
              <a:ahLst/>
              <a:cxnLst/>
              <a:rect r="r" b="b" t="t" l="l"/>
              <a:pathLst>
                <a:path h="380055" w="981852">
                  <a:moveTo>
                    <a:pt x="0" y="0"/>
                  </a:moveTo>
                  <a:lnTo>
                    <a:pt x="981852" y="0"/>
                  </a:lnTo>
                  <a:lnTo>
                    <a:pt x="981852" y="380055"/>
                  </a:lnTo>
                  <a:lnTo>
                    <a:pt x="0" y="38005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981852" cy="446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35584" y="5347336"/>
            <a:ext cx="277692" cy="462059"/>
            <a:chOff x="0" y="0"/>
            <a:chExt cx="406400" cy="6762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35584" y="7193353"/>
            <a:ext cx="277692" cy="462059"/>
            <a:chOff x="0" y="0"/>
            <a:chExt cx="406400" cy="6762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35584" y="9039370"/>
            <a:ext cx="277692" cy="462059"/>
            <a:chOff x="0" y="0"/>
            <a:chExt cx="406400" cy="6762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1745799" y="3371659"/>
            <a:ext cx="725209" cy="888465"/>
          </a:xfrm>
          <a:custGeom>
            <a:avLst/>
            <a:gdLst/>
            <a:ahLst/>
            <a:cxnLst/>
            <a:rect r="r" b="b" t="t" l="l"/>
            <a:pathLst>
              <a:path h="888465" w="725209">
                <a:moveTo>
                  <a:pt x="0" y="0"/>
                </a:moveTo>
                <a:lnTo>
                  <a:pt x="725209" y="0"/>
                </a:lnTo>
                <a:lnTo>
                  <a:pt x="725209" y="888464"/>
                </a:lnTo>
                <a:lnTo>
                  <a:pt x="0" y="88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238009" y="7075185"/>
            <a:ext cx="778427" cy="1019216"/>
          </a:xfrm>
          <a:custGeom>
            <a:avLst/>
            <a:gdLst/>
            <a:ahLst/>
            <a:cxnLst/>
            <a:rect r="r" b="b" t="t" l="l"/>
            <a:pathLst>
              <a:path h="1019216" w="778427">
                <a:moveTo>
                  <a:pt x="0" y="0"/>
                </a:moveTo>
                <a:lnTo>
                  <a:pt x="778426" y="0"/>
                </a:lnTo>
                <a:lnTo>
                  <a:pt x="778426" y="1019216"/>
                </a:lnTo>
                <a:lnTo>
                  <a:pt x="0" y="1019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088523" y="3251578"/>
            <a:ext cx="1128626" cy="1128626"/>
          </a:xfrm>
          <a:custGeom>
            <a:avLst/>
            <a:gdLst/>
            <a:ahLst/>
            <a:cxnLst/>
            <a:rect r="r" b="b" t="t" l="l"/>
            <a:pathLst>
              <a:path h="1128626" w="1128626">
                <a:moveTo>
                  <a:pt x="0" y="0"/>
                </a:moveTo>
                <a:lnTo>
                  <a:pt x="1128626" y="0"/>
                </a:lnTo>
                <a:lnTo>
                  <a:pt x="1128626" y="1128626"/>
                </a:lnTo>
                <a:lnTo>
                  <a:pt x="0" y="1128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4983748" y="6957394"/>
            <a:ext cx="1128626" cy="1128626"/>
          </a:xfrm>
          <a:custGeom>
            <a:avLst/>
            <a:gdLst/>
            <a:ahLst/>
            <a:cxnLst/>
            <a:rect r="r" b="b" t="t" l="l"/>
            <a:pathLst>
              <a:path h="1128626" w="1128626">
                <a:moveTo>
                  <a:pt x="0" y="0"/>
                </a:moveTo>
                <a:lnTo>
                  <a:pt x="1128626" y="0"/>
                </a:lnTo>
                <a:lnTo>
                  <a:pt x="1128626" y="1128626"/>
                </a:lnTo>
                <a:lnTo>
                  <a:pt x="0" y="1128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522309" y="3227322"/>
            <a:ext cx="1010055" cy="1010055"/>
          </a:xfrm>
          <a:custGeom>
            <a:avLst/>
            <a:gdLst/>
            <a:ahLst/>
            <a:cxnLst/>
            <a:rect r="r" b="b" t="t" l="l"/>
            <a:pathLst>
              <a:path h="1010055" w="1010055">
                <a:moveTo>
                  <a:pt x="0" y="0"/>
                </a:moveTo>
                <a:lnTo>
                  <a:pt x="1010055" y="0"/>
                </a:lnTo>
                <a:lnTo>
                  <a:pt x="1010055" y="1010055"/>
                </a:lnTo>
                <a:lnTo>
                  <a:pt x="0" y="1010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8522309" y="6919355"/>
            <a:ext cx="1010055" cy="1010055"/>
          </a:xfrm>
          <a:custGeom>
            <a:avLst/>
            <a:gdLst/>
            <a:ahLst/>
            <a:cxnLst/>
            <a:rect r="r" b="b" t="t" l="l"/>
            <a:pathLst>
              <a:path h="1010055" w="1010055">
                <a:moveTo>
                  <a:pt x="0" y="0"/>
                </a:moveTo>
                <a:lnTo>
                  <a:pt x="1010055" y="0"/>
                </a:lnTo>
                <a:lnTo>
                  <a:pt x="1010055" y="1010055"/>
                </a:lnTo>
                <a:lnTo>
                  <a:pt x="0" y="1010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522309" y="4958379"/>
            <a:ext cx="1037051" cy="1037051"/>
          </a:xfrm>
          <a:custGeom>
            <a:avLst/>
            <a:gdLst/>
            <a:ahLst/>
            <a:cxnLst/>
            <a:rect r="r" b="b" t="t" l="l"/>
            <a:pathLst>
              <a:path h="1037051" w="1037051">
                <a:moveTo>
                  <a:pt x="0" y="0"/>
                </a:moveTo>
                <a:lnTo>
                  <a:pt x="1037051" y="0"/>
                </a:lnTo>
                <a:lnTo>
                  <a:pt x="1037051" y="1037051"/>
                </a:lnTo>
                <a:lnTo>
                  <a:pt x="0" y="10370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566938" y="3251578"/>
            <a:ext cx="1037051" cy="1037051"/>
          </a:xfrm>
          <a:custGeom>
            <a:avLst/>
            <a:gdLst/>
            <a:ahLst/>
            <a:cxnLst/>
            <a:rect r="r" b="b" t="t" l="l"/>
            <a:pathLst>
              <a:path h="1037051" w="1037051">
                <a:moveTo>
                  <a:pt x="0" y="0"/>
                </a:moveTo>
                <a:lnTo>
                  <a:pt x="1037051" y="0"/>
                </a:lnTo>
                <a:lnTo>
                  <a:pt x="1037051" y="1037051"/>
                </a:lnTo>
                <a:lnTo>
                  <a:pt x="0" y="10370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1490718" y="6878729"/>
            <a:ext cx="1037051" cy="1037051"/>
          </a:xfrm>
          <a:custGeom>
            <a:avLst/>
            <a:gdLst/>
            <a:ahLst/>
            <a:cxnLst/>
            <a:rect r="r" b="b" t="t" l="l"/>
            <a:pathLst>
              <a:path h="1037051" w="1037051">
                <a:moveTo>
                  <a:pt x="0" y="0"/>
                </a:moveTo>
                <a:lnTo>
                  <a:pt x="1037052" y="0"/>
                </a:lnTo>
                <a:lnTo>
                  <a:pt x="1037052" y="1037052"/>
                </a:lnTo>
                <a:lnTo>
                  <a:pt x="0" y="1037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025037" y="4976181"/>
            <a:ext cx="1204370" cy="1204370"/>
          </a:xfrm>
          <a:custGeom>
            <a:avLst/>
            <a:gdLst/>
            <a:ahLst/>
            <a:cxnLst/>
            <a:rect r="r" b="b" t="t" l="l"/>
            <a:pathLst>
              <a:path h="1204370" w="1204370">
                <a:moveTo>
                  <a:pt x="0" y="0"/>
                </a:moveTo>
                <a:lnTo>
                  <a:pt x="1204370" y="0"/>
                </a:lnTo>
                <a:lnTo>
                  <a:pt x="1204370" y="1204370"/>
                </a:lnTo>
                <a:lnTo>
                  <a:pt x="0" y="12043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456463" y="5000231"/>
            <a:ext cx="1156271" cy="1156271"/>
          </a:xfrm>
          <a:custGeom>
            <a:avLst/>
            <a:gdLst/>
            <a:ahLst/>
            <a:cxnLst/>
            <a:rect r="r" b="b" t="t" l="l"/>
            <a:pathLst>
              <a:path h="1156271" w="1156271">
                <a:moveTo>
                  <a:pt x="0" y="0"/>
                </a:moveTo>
                <a:lnTo>
                  <a:pt x="1156271" y="0"/>
                </a:lnTo>
                <a:lnTo>
                  <a:pt x="1156271" y="1156270"/>
                </a:lnTo>
                <a:lnTo>
                  <a:pt x="0" y="1156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025037" y="8610225"/>
            <a:ext cx="1156271" cy="1156271"/>
          </a:xfrm>
          <a:custGeom>
            <a:avLst/>
            <a:gdLst/>
            <a:ahLst/>
            <a:cxnLst/>
            <a:rect r="r" b="b" t="t" l="l"/>
            <a:pathLst>
              <a:path h="1156271" w="1156271">
                <a:moveTo>
                  <a:pt x="0" y="0"/>
                </a:moveTo>
                <a:lnTo>
                  <a:pt x="1156271" y="0"/>
                </a:lnTo>
                <a:lnTo>
                  <a:pt x="1156271" y="1156271"/>
                </a:lnTo>
                <a:lnTo>
                  <a:pt x="0" y="1156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114382" y="8758123"/>
            <a:ext cx="860476" cy="860476"/>
          </a:xfrm>
          <a:custGeom>
            <a:avLst/>
            <a:gdLst/>
            <a:ahLst/>
            <a:cxnLst/>
            <a:rect r="r" b="b" t="t" l="l"/>
            <a:pathLst>
              <a:path h="860476" w="860476">
                <a:moveTo>
                  <a:pt x="0" y="0"/>
                </a:moveTo>
                <a:lnTo>
                  <a:pt x="860476" y="0"/>
                </a:lnTo>
                <a:lnTo>
                  <a:pt x="860476" y="860476"/>
                </a:lnTo>
                <a:lnTo>
                  <a:pt x="0" y="8604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737212" y="8720473"/>
            <a:ext cx="935775" cy="935775"/>
          </a:xfrm>
          <a:custGeom>
            <a:avLst/>
            <a:gdLst/>
            <a:ahLst/>
            <a:cxnLst/>
            <a:rect r="r" b="b" t="t" l="l"/>
            <a:pathLst>
              <a:path h="935775" w="935775">
                <a:moveTo>
                  <a:pt x="0" y="0"/>
                </a:moveTo>
                <a:lnTo>
                  <a:pt x="935774" y="0"/>
                </a:lnTo>
                <a:lnTo>
                  <a:pt x="935774" y="935775"/>
                </a:lnTo>
                <a:lnTo>
                  <a:pt x="0" y="935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038172" y="1767219"/>
            <a:ext cx="7105828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NeuroPolis works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665765" y="1890639"/>
            <a:ext cx="10599686" cy="393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2"/>
              </a:lnSpc>
            </a:pPr>
            <a:r>
              <a:rPr lang="en-US" sz="2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Signals to Strategy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87083" y="3435100"/>
            <a:ext cx="2646655" cy="60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Cascade Disaster </a:t>
            </a:r>
          </a:p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87083" y="5281117"/>
            <a:ext cx="2646655" cy="60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Misinformation Detection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87083" y="7127134"/>
            <a:ext cx="2280870" cy="60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Live Risk </a:t>
            </a:r>
          </a:p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87083" y="8830275"/>
            <a:ext cx="3211127" cy="88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20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Recommendation Engine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217149" y="3312999"/>
            <a:ext cx="160436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Wind Speed </a:t>
            </a: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(27%)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85500" y="3263310"/>
            <a:ext cx="89944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Intense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Rainfall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(26%)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852830" y="3413812"/>
            <a:ext cx="96046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everity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(33%)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88326" y="3413812"/>
            <a:ext cx="1269057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Casualties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(8%)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73914" y="3472745"/>
            <a:ext cx="33017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166208" y="3444170"/>
            <a:ext cx="165646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231116" y="3487875"/>
            <a:ext cx="165646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217149" y="5245060"/>
            <a:ext cx="201941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Sensor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Match </a:t>
            </a: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(±10 minutes)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685500" y="4961919"/>
            <a:ext cx="164635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 Support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(Pct &gt; 70)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471008" y="4990550"/>
            <a:ext cx="1486376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Blockchain Validation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(3 users)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217149" y="7159309"/>
            <a:ext cx="215276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Wind Speed </a:t>
            </a: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(&gt; 85 kmph)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704550" y="6975005"/>
            <a:ext cx="1701205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Intense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Rainfall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(&gt; 175 mm)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612734" y="7048640"/>
            <a:ext cx="1701205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Severity Score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(&gt; 8.0)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217149" y="8856221"/>
            <a:ext cx="289723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Flood Level &gt; </a:t>
            </a: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75%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Then: Evacuate Zone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672986" y="8817373"/>
            <a:ext cx="3948699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Hospital Capacity &gt;</a:t>
            </a:r>
            <a:r>
              <a:rPr lang="en-US" sz="1800" strike="noStrike" u="none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strike="noStrike" u="none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Reroute to Hospital B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060249" y="8856221"/>
            <a:ext cx="3948699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Road accessibility </a:t>
            </a:r>
            <a:r>
              <a:rPr lang="en-US" sz="1800" strike="noStrike" u="none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&lt; 30%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Then: Reroute Traffic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8749645" y="8995394"/>
            <a:ext cx="277692" cy="462059"/>
            <a:chOff x="0" y="0"/>
            <a:chExt cx="406400" cy="67622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40A5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80168" y="8995394"/>
            <a:ext cx="277692" cy="462059"/>
            <a:chOff x="0" y="0"/>
            <a:chExt cx="406400" cy="67622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40A5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9558424" y="2576537"/>
            <a:ext cx="2637681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Feature Importance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63048" y="3698935"/>
            <a:ext cx="0" cy="4131200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4522322" y="3167014"/>
            <a:ext cx="2103935" cy="2103935"/>
          </a:xfrm>
          <a:custGeom>
            <a:avLst/>
            <a:gdLst/>
            <a:ahLst/>
            <a:cxnLst/>
            <a:rect r="r" b="b" t="t" l="l"/>
            <a:pathLst>
              <a:path h="2103935" w="2103935">
                <a:moveTo>
                  <a:pt x="0" y="0"/>
                </a:moveTo>
                <a:lnTo>
                  <a:pt x="2103935" y="0"/>
                </a:lnTo>
                <a:lnTo>
                  <a:pt x="2103935" y="2103935"/>
                </a:lnTo>
                <a:lnTo>
                  <a:pt x="0" y="210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68364" y="3369174"/>
            <a:ext cx="1774326" cy="1774326"/>
          </a:xfrm>
          <a:custGeom>
            <a:avLst/>
            <a:gdLst/>
            <a:ahLst/>
            <a:cxnLst/>
            <a:rect r="r" b="b" t="t" l="l"/>
            <a:pathLst>
              <a:path h="1774326" w="1774326">
                <a:moveTo>
                  <a:pt x="0" y="0"/>
                </a:moveTo>
                <a:lnTo>
                  <a:pt x="1774326" y="0"/>
                </a:lnTo>
                <a:lnTo>
                  <a:pt x="1774326" y="1774326"/>
                </a:lnTo>
                <a:lnTo>
                  <a:pt x="0" y="177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84457" y="1767219"/>
            <a:ext cx="8908278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Innovation Highlight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80924" y="5413824"/>
            <a:ext cx="1586731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Intel Engine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10816" y="5413824"/>
            <a:ext cx="1689422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Trust Ledger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67859" y="6047936"/>
            <a:ext cx="4420936" cy="192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Real-Time Forecasting</a:t>
            </a:r>
          </a:p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Classification </a:t>
            </a:r>
          </a:p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Pattern Detection </a:t>
            </a:r>
          </a:p>
          <a:p>
            <a:pPr algn="ctr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156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Models: Random Forest, LightGBM, XGBoost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91946" y="5996141"/>
            <a:ext cx="4436367" cy="192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Verifies alerts &amp; sensor readings</a:t>
            </a:r>
          </a:p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Logs misinformation </a:t>
            </a:r>
          </a:p>
          <a:p>
            <a:pPr algn="l" marL="336848" indent="-168424" lvl="1">
              <a:lnSpc>
                <a:spcPts val="3120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time-stamped audit trails</a:t>
            </a:r>
          </a:p>
          <a:p>
            <a:pPr algn="l">
              <a:lnSpc>
                <a:spcPts val="3120"/>
              </a:lnSpc>
            </a:pPr>
          </a:p>
          <a:p>
            <a:pPr algn="ctr">
              <a:lnSpc>
                <a:spcPts val="3120"/>
              </a:lnSpc>
            </a:pPr>
            <a:r>
              <a:rPr lang="en-US" sz="156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Platform</a:t>
            </a:r>
            <a:r>
              <a:rPr lang="en-US" sz="156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: HyperLedger Fabric Blockchain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4291" y="8880270"/>
            <a:ext cx="15939418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dual-core architecture transforms fragmented data into accountable, auditable, and actionable urban intelligence.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>
            <a:off x="9204074" y="4031782"/>
            <a:ext cx="19048" cy="4386432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2130511" y="1767219"/>
            <a:ext cx="8178638" cy="59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7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Samples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63012" y="9378523"/>
            <a:ext cx="581036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6406" y="9378523"/>
            <a:ext cx="5810369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Comparison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14394" y="2600790"/>
            <a:ext cx="310760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Multi-purpose Chatbot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98090" y="2600790"/>
            <a:ext cx="3267001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Blockchain-based Ledger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229412" y="3235799"/>
            <a:ext cx="4627577" cy="2755151"/>
          </a:xfrm>
          <a:custGeom>
            <a:avLst/>
            <a:gdLst/>
            <a:ahLst/>
            <a:cxnLst/>
            <a:rect r="r" b="b" t="t" l="l"/>
            <a:pathLst>
              <a:path h="2755151" w="4627577">
                <a:moveTo>
                  <a:pt x="0" y="0"/>
                </a:moveTo>
                <a:lnTo>
                  <a:pt x="4627577" y="0"/>
                </a:lnTo>
                <a:lnTo>
                  <a:pt x="4627577" y="2755151"/>
                </a:lnTo>
                <a:lnTo>
                  <a:pt x="0" y="2755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285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19043" y="3326363"/>
            <a:ext cx="4993872" cy="2664587"/>
          </a:xfrm>
          <a:custGeom>
            <a:avLst/>
            <a:gdLst/>
            <a:ahLst/>
            <a:cxnLst/>
            <a:rect r="r" b="b" t="t" l="l"/>
            <a:pathLst>
              <a:path h="2664587" w="4993872">
                <a:moveTo>
                  <a:pt x="0" y="0"/>
                </a:moveTo>
                <a:lnTo>
                  <a:pt x="4993873" y="0"/>
                </a:lnTo>
                <a:lnTo>
                  <a:pt x="4993873" y="2664587"/>
                </a:lnTo>
                <a:lnTo>
                  <a:pt x="0" y="2664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98" t="0" r="-2698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392762" y="6588497"/>
            <a:ext cx="4477656" cy="2669803"/>
          </a:xfrm>
          <a:custGeom>
            <a:avLst/>
            <a:gdLst/>
            <a:ahLst/>
            <a:cxnLst/>
            <a:rect r="r" b="b" t="t" l="l"/>
            <a:pathLst>
              <a:path h="2669803" w="4477656">
                <a:moveTo>
                  <a:pt x="0" y="0"/>
                </a:moveTo>
                <a:lnTo>
                  <a:pt x="4477657" y="0"/>
                </a:lnTo>
                <a:lnTo>
                  <a:pt x="4477657" y="2669803"/>
                </a:lnTo>
                <a:lnTo>
                  <a:pt x="0" y="266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419043" y="6700666"/>
            <a:ext cx="4993872" cy="2430207"/>
          </a:xfrm>
          <a:custGeom>
            <a:avLst/>
            <a:gdLst/>
            <a:ahLst/>
            <a:cxnLst/>
            <a:rect r="r" b="b" t="t" l="l"/>
            <a:pathLst>
              <a:path h="2430207" w="4993872">
                <a:moveTo>
                  <a:pt x="0" y="0"/>
                </a:moveTo>
                <a:lnTo>
                  <a:pt x="4993873" y="0"/>
                </a:lnTo>
                <a:lnTo>
                  <a:pt x="4993873" y="2430207"/>
                </a:lnTo>
                <a:lnTo>
                  <a:pt x="0" y="2430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13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7544" y="5431366"/>
            <a:ext cx="1674494" cy="16744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46"/>
                </a:lnSpc>
              </a:pPr>
              <a:r>
                <a:rPr lang="en-US" b="true" sz="3390">
                  <a:solidFill>
                    <a:srgbClr val="1140A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70%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01106" y="5431366"/>
            <a:ext cx="1674494" cy="16744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86"/>
                </a:lnSpc>
              </a:pPr>
              <a:r>
                <a:rPr lang="en-US" b="true" sz="2990">
                  <a:solidFill>
                    <a:srgbClr val="1140A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$11bn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33584" y="5431366"/>
            <a:ext cx="1674494" cy="16744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86"/>
                </a:lnSpc>
              </a:pPr>
              <a:r>
                <a:rPr lang="en-US" b="true" sz="2990">
                  <a:solidFill>
                    <a:srgbClr val="1140A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50%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56749" y="5431366"/>
            <a:ext cx="1674494" cy="16744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86"/>
                </a:lnSpc>
              </a:pPr>
              <a:r>
                <a:rPr lang="en-US" b="true" sz="2990">
                  <a:solidFill>
                    <a:srgbClr val="1140A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60%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-5400000">
            <a:off x="2703067" y="4930284"/>
            <a:ext cx="960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rot="-5400000">
            <a:off x="6637270" y="4930284"/>
            <a:ext cx="960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rot="-5400000">
            <a:off x="10569749" y="4930284"/>
            <a:ext cx="960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 rot="-5400000">
            <a:off x="14592913" y="4930284"/>
            <a:ext cx="9605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1408360" y="3569745"/>
            <a:ext cx="3508432" cy="845575"/>
            <a:chOff x="0" y="0"/>
            <a:chExt cx="2898194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98194" cy="698500"/>
            </a:xfrm>
            <a:custGeom>
              <a:avLst/>
              <a:gdLst/>
              <a:ahLst/>
              <a:cxnLst/>
              <a:rect r="r" b="b" t="t" l="l"/>
              <a:pathLst>
                <a:path h="698500" w="2898194">
                  <a:moveTo>
                    <a:pt x="2898194" y="349250"/>
                  </a:moveTo>
                  <a:lnTo>
                    <a:pt x="269499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94994" y="0"/>
                  </a:lnTo>
                  <a:lnTo>
                    <a:pt x="2898194" y="3492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66675"/>
              <a:ext cx="266959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42564" y="3569745"/>
            <a:ext cx="3508432" cy="845575"/>
            <a:chOff x="0" y="0"/>
            <a:chExt cx="2898194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98194" cy="698500"/>
            </a:xfrm>
            <a:custGeom>
              <a:avLst/>
              <a:gdLst/>
              <a:ahLst/>
              <a:cxnLst/>
              <a:rect r="r" b="b" t="t" l="l"/>
              <a:pathLst>
                <a:path h="698500" w="2898194">
                  <a:moveTo>
                    <a:pt x="2898194" y="349250"/>
                  </a:moveTo>
                  <a:lnTo>
                    <a:pt x="269499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94994" y="0"/>
                  </a:lnTo>
                  <a:lnTo>
                    <a:pt x="2898194" y="3492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66675"/>
              <a:ext cx="266959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75042" y="3569745"/>
            <a:ext cx="3508432" cy="845575"/>
            <a:chOff x="0" y="0"/>
            <a:chExt cx="2898194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98194" cy="698500"/>
            </a:xfrm>
            <a:custGeom>
              <a:avLst/>
              <a:gdLst/>
              <a:ahLst/>
              <a:cxnLst/>
              <a:rect r="r" b="b" t="t" l="l"/>
              <a:pathLst>
                <a:path h="698500" w="2898194">
                  <a:moveTo>
                    <a:pt x="2898194" y="349250"/>
                  </a:moveTo>
                  <a:lnTo>
                    <a:pt x="269499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94994" y="0"/>
                  </a:lnTo>
                  <a:lnTo>
                    <a:pt x="2898194" y="3492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66675"/>
              <a:ext cx="266959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98206" y="3569745"/>
            <a:ext cx="3508432" cy="845575"/>
            <a:chOff x="0" y="0"/>
            <a:chExt cx="2898194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98194" cy="698500"/>
            </a:xfrm>
            <a:custGeom>
              <a:avLst/>
              <a:gdLst/>
              <a:ahLst/>
              <a:cxnLst/>
              <a:rect r="r" b="b" t="t" l="l"/>
              <a:pathLst>
                <a:path h="698500" w="2898194">
                  <a:moveTo>
                    <a:pt x="2898194" y="349250"/>
                  </a:moveTo>
                  <a:lnTo>
                    <a:pt x="2694994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94994" y="0"/>
                  </a:lnTo>
                  <a:lnTo>
                    <a:pt x="2898194" y="34925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66675"/>
              <a:ext cx="2669594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2833634">
            <a:off x="2810362" y="661381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0" y="0"/>
                </a:moveTo>
                <a:lnTo>
                  <a:pt x="787576" y="0"/>
                </a:lnTo>
                <a:lnTo>
                  <a:pt x="787576" y="787576"/>
                </a:lnTo>
                <a:lnTo>
                  <a:pt x="0" y="787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2833634">
            <a:off x="6744565" y="6591741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0" y="0"/>
                </a:moveTo>
                <a:lnTo>
                  <a:pt x="787576" y="0"/>
                </a:lnTo>
                <a:lnTo>
                  <a:pt x="787576" y="787577"/>
                </a:lnTo>
                <a:lnTo>
                  <a:pt x="0" y="787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2833634">
            <a:off x="10724892" y="661381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0" y="0"/>
                </a:moveTo>
                <a:lnTo>
                  <a:pt x="787577" y="0"/>
                </a:lnTo>
                <a:lnTo>
                  <a:pt x="787577" y="787576"/>
                </a:lnTo>
                <a:lnTo>
                  <a:pt x="0" y="787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2833634">
            <a:off x="14700207" y="661381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0" y="0"/>
                </a:moveTo>
                <a:lnTo>
                  <a:pt x="787577" y="0"/>
                </a:lnTo>
                <a:lnTo>
                  <a:pt x="787577" y="787576"/>
                </a:lnTo>
                <a:lnTo>
                  <a:pt x="0" y="787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true" rot="2833634">
            <a:off x="2810362" y="513583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787576" y="787577"/>
                </a:moveTo>
                <a:lnTo>
                  <a:pt x="0" y="787577"/>
                </a:lnTo>
                <a:lnTo>
                  <a:pt x="0" y="0"/>
                </a:lnTo>
                <a:lnTo>
                  <a:pt x="787576" y="0"/>
                </a:lnTo>
                <a:lnTo>
                  <a:pt x="787576" y="7875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true" rot="2833634">
            <a:off x="6744565" y="5113762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787576" y="787576"/>
                </a:moveTo>
                <a:lnTo>
                  <a:pt x="0" y="787576"/>
                </a:lnTo>
                <a:lnTo>
                  <a:pt x="0" y="0"/>
                </a:lnTo>
                <a:lnTo>
                  <a:pt x="787576" y="0"/>
                </a:lnTo>
                <a:lnTo>
                  <a:pt x="787576" y="7875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true" rot="2833634">
            <a:off x="10724892" y="513583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787577" y="787577"/>
                </a:moveTo>
                <a:lnTo>
                  <a:pt x="0" y="787577"/>
                </a:lnTo>
                <a:lnTo>
                  <a:pt x="0" y="0"/>
                </a:lnTo>
                <a:lnTo>
                  <a:pt x="787577" y="0"/>
                </a:lnTo>
                <a:lnTo>
                  <a:pt x="787577" y="7875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true" flipV="true" rot="2833634">
            <a:off x="14700207" y="5135835"/>
            <a:ext cx="787576" cy="787576"/>
          </a:xfrm>
          <a:custGeom>
            <a:avLst/>
            <a:gdLst/>
            <a:ahLst/>
            <a:cxnLst/>
            <a:rect r="r" b="b" t="t" l="l"/>
            <a:pathLst>
              <a:path h="787576" w="787576">
                <a:moveTo>
                  <a:pt x="787577" y="787577"/>
                </a:moveTo>
                <a:lnTo>
                  <a:pt x="0" y="787577"/>
                </a:lnTo>
                <a:lnTo>
                  <a:pt x="0" y="0"/>
                </a:lnTo>
                <a:lnTo>
                  <a:pt x="787577" y="0"/>
                </a:lnTo>
                <a:lnTo>
                  <a:pt x="787577" y="7875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948089" y="1700842"/>
            <a:ext cx="5521439" cy="5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Potential Impact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886061" y="3734897"/>
            <a:ext cx="2553032" cy="5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b="true" sz="1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Fatality Rate Reduction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20264" y="3710133"/>
            <a:ext cx="2553032" cy="54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75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 Loss</a:t>
            </a:r>
          </a:p>
          <a:p>
            <a:pPr algn="ctr">
              <a:lnSpc>
                <a:spcPts val="2163"/>
              </a:lnSpc>
            </a:pPr>
            <a:r>
              <a:rPr lang="en-US" b="true" sz="17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Reduction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733692" y="3691274"/>
            <a:ext cx="2553032" cy="5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</a:pPr>
            <a:r>
              <a:rPr lang="en-US" sz="17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Improved </a:t>
            </a:r>
          </a:p>
          <a:p>
            <a:pPr algn="ctr">
              <a:lnSpc>
                <a:spcPts val="2164"/>
              </a:lnSpc>
            </a:pPr>
            <a:r>
              <a:rPr lang="en-US" b="true" sz="17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Response Time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75907" y="3734897"/>
            <a:ext cx="2553032" cy="54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b="true" sz="17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Emergency Assets Efficiency 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08360" y="7532484"/>
            <a:ext cx="3612861" cy="16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 to 70% fatality reduction through early warnings and proactive evacuations</a:t>
            </a:r>
          </a:p>
          <a:p>
            <a:pPr algn="l">
              <a:lnSpc>
                <a:spcPts val="1856"/>
              </a:lnSpc>
            </a:pPr>
          </a:p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~91 lives potentially saved in Hurricane Ian scenario</a:t>
            </a:r>
          </a:p>
          <a:p>
            <a:pPr algn="l">
              <a:lnSpc>
                <a:spcPts val="1856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5866626" y="7532484"/>
            <a:ext cx="3445623" cy="138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16% of total damages avoided through proactive infrastructure risk mapping</a:t>
            </a:r>
          </a:p>
          <a:p>
            <a:pPr algn="l">
              <a:lnSpc>
                <a:spcPts val="1856"/>
              </a:lnSpc>
            </a:pPr>
          </a:p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$11B in economic value preserved during Hurricane Ian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312250" y="7554558"/>
            <a:ext cx="3612861" cy="16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~50% faster response time via real-time incident tracking</a:t>
            </a:r>
          </a:p>
          <a:p>
            <a:pPr algn="l">
              <a:lnSpc>
                <a:spcPts val="1856"/>
              </a:lnSpc>
            </a:pPr>
          </a:p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Accelerated triage and aid delivery to flooded or inaccessible areas</a:t>
            </a:r>
          </a:p>
          <a:p>
            <a:pPr algn="l">
              <a:lnSpc>
                <a:spcPts val="1856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266779" y="7583133"/>
            <a:ext cx="3767553" cy="161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60% increase in emergency asset efficiency during peak crisis</a:t>
            </a:r>
          </a:p>
          <a:p>
            <a:pPr algn="l">
              <a:lnSpc>
                <a:spcPts val="1856"/>
              </a:lnSpc>
            </a:pPr>
          </a:p>
          <a:p>
            <a:pPr algn="l" marL="336848" indent="-168424" lvl="1">
              <a:lnSpc>
                <a:spcPts val="1856"/>
              </a:lnSpc>
              <a:buFont typeface="Arial"/>
              <a:buChar char="•"/>
            </a:pPr>
            <a:r>
              <a:rPr lang="en-US" sz="15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Smarter rerouting and resource reallocation through real-time system integration</a:t>
            </a:r>
          </a:p>
          <a:p>
            <a:pPr algn="l">
              <a:lnSpc>
                <a:spcPts val="1856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5041981" y="2292125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1951925" y="2391465"/>
            <a:ext cx="12304823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140A5"/>
                </a:solidFill>
                <a:latin typeface="Canva Sans"/>
                <a:ea typeface="Canva Sans"/>
                <a:cs typeface="Canva Sans"/>
                <a:sym typeface="Canva Sans"/>
              </a:rPr>
              <a:t>Simulation results using Hurricane Ian data* (2022) show the life-saving and cost-saving potential of NeuroPolis.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714540" y="6393973"/>
            <a:ext cx="825103" cy="30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  <a:spcBef>
                <a:spcPct val="0"/>
              </a:spcBef>
            </a:pPr>
            <a:r>
              <a:rPr lang="en-US" sz="1690">
                <a:solidFill>
                  <a:srgbClr val="031D58"/>
                </a:solidFill>
                <a:latin typeface="Poppins"/>
                <a:ea typeface="Poppins"/>
                <a:cs typeface="Poppins"/>
                <a:sym typeface="Poppins"/>
              </a:rPr>
              <a:t>savings</a:t>
            </a:r>
          </a:p>
        </p:txBody>
      </p:sp>
      <p:sp>
        <p:nvSpPr>
          <p:cNvPr name="AutoShape 62" id="62"/>
          <p:cNvSpPr/>
          <p:nvPr/>
        </p:nvSpPr>
        <p:spPr>
          <a:xfrm>
            <a:off x="3834144" y="6035991"/>
            <a:ext cx="0" cy="508098"/>
          </a:xfrm>
          <a:prstGeom prst="line">
            <a:avLst/>
          </a:prstGeom>
          <a:ln cap="flat" w="38100">
            <a:solidFill>
              <a:srgbClr val="1140A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3" id="63"/>
          <p:cNvSpPr/>
          <p:nvPr/>
        </p:nvSpPr>
        <p:spPr>
          <a:xfrm flipV="true">
            <a:off x="11656110" y="6014564"/>
            <a:ext cx="0" cy="508098"/>
          </a:xfrm>
          <a:prstGeom prst="line">
            <a:avLst/>
          </a:prstGeom>
          <a:ln cap="flat" w="38100">
            <a:solidFill>
              <a:srgbClr val="1140A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4" id="64"/>
          <p:cNvSpPr/>
          <p:nvPr/>
        </p:nvSpPr>
        <p:spPr>
          <a:xfrm flipV="true">
            <a:off x="15669525" y="6011166"/>
            <a:ext cx="0" cy="508098"/>
          </a:xfrm>
          <a:prstGeom prst="line">
            <a:avLst/>
          </a:prstGeom>
          <a:ln cap="flat" w="38100">
            <a:solidFill>
              <a:srgbClr val="1140A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5" id="65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187767" y="9661564"/>
            <a:ext cx="1230482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140A5"/>
                </a:solidFill>
                <a:latin typeface="Canva Sans"/>
                <a:ea typeface="Canva Sans"/>
                <a:cs typeface="Canva Sans"/>
                <a:sym typeface="Canva Sans"/>
              </a:rPr>
              <a:t>*Estimates derived from modeled simulations using NOAA, EMDAT, and JFK weather datasets contextualized to Hurricane Ian (2022)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2241" y="4327033"/>
            <a:ext cx="3546125" cy="3258212"/>
            <a:chOff x="0" y="0"/>
            <a:chExt cx="4728166" cy="434428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739" t="0" r="4646" b="21499"/>
            <a:stretch>
              <a:fillRect/>
            </a:stretch>
          </p:blipFill>
          <p:spPr>
            <a:xfrm flipH="false" flipV="false">
              <a:off x="0" y="0"/>
              <a:ext cx="4728166" cy="4344282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5794386" y="4327033"/>
            <a:ext cx="3546125" cy="3258212"/>
            <a:chOff x="0" y="0"/>
            <a:chExt cx="4728166" cy="4344282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9377" t="29494" r="35579" b="22120"/>
            <a:stretch>
              <a:fillRect/>
            </a:stretch>
          </p:blipFill>
          <p:spPr>
            <a:xfrm flipH="false" flipV="false">
              <a:off x="0" y="0"/>
              <a:ext cx="4728166" cy="4344282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9766531" y="4327033"/>
            <a:ext cx="3546125" cy="3258212"/>
            <a:chOff x="0" y="0"/>
            <a:chExt cx="4728166" cy="4344282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32982" t="32176" r="31777" b="19166"/>
            <a:stretch>
              <a:fillRect/>
            </a:stretch>
          </p:blipFill>
          <p:spPr>
            <a:xfrm flipH="false" flipV="false">
              <a:off x="0" y="0"/>
              <a:ext cx="4728166" cy="4344282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1822241" y="7585245"/>
            <a:ext cx="3546125" cy="1232176"/>
            <a:chOff x="0" y="0"/>
            <a:chExt cx="933959" cy="3245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3959" cy="324524"/>
            </a:xfrm>
            <a:custGeom>
              <a:avLst/>
              <a:gdLst/>
              <a:ahLst/>
              <a:cxnLst/>
              <a:rect r="r" b="b" t="t" l="l"/>
              <a:pathLst>
                <a:path h="324524" w="933959">
                  <a:moveTo>
                    <a:pt x="0" y="0"/>
                  </a:moveTo>
                  <a:lnTo>
                    <a:pt x="933959" y="0"/>
                  </a:lnTo>
                  <a:lnTo>
                    <a:pt x="933959" y="324524"/>
                  </a:lnTo>
                  <a:lnTo>
                    <a:pt x="0" y="32452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33959" cy="39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94386" y="7585245"/>
            <a:ext cx="3546125" cy="1232176"/>
            <a:chOff x="0" y="0"/>
            <a:chExt cx="933959" cy="3245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959" cy="324524"/>
            </a:xfrm>
            <a:custGeom>
              <a:avLst/>
              <a:gdLst/>
              <a:ahLst/>
              <a:cxnLst/>
              <a:rect r="r" b="b" t="t" l="l"/>
              <a:pathLst>
                <a:path h="324524" w="933959">
                  <a:moveTo>
                    <a:pt x="0" y="0"/>
                  </a:moveTo>
                  <a:lnTo>
                    <a:pt x="933959" y="0"/>
                  </a:lnTo>
                  <a:lnTo>
                    <a:pt x="933959" y="324524"/>
                  </a:lnTo>
                  <a:lnTo>
                    <a:pt x="0" y="32452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33959" cy="39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66531" y="7585245"/>
            <a:ext cx="3546125" cy="1232176"/>
            <a:chOff x="0" y="0"/>
            <a:chExt cx="933959" cy="3245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3959" cy="324524"/>
            </a:xfrm>
            <a:custGeom>
              <a:avLst/>
              <a:gdLst/>
              <a:ahLst/>
              <a:cxnLst/>
              <a:rect r="r" b="b" t="t" l="l"/>
              <a:pathLst>
                <a:path h="324524" w="933959">
                  <a:moveTo>
                    <a:pt x="0" y="0"/>
                  </a:moveTo>
                  <a:lnTo>
                    <a:pt x="933959" y="0"/>
                  </a:lnTo>
                  <a:lnTo>
                    <a:pt x="933959" y="324524"/>
                  </a:lnTo>
                  <a:lnTo>
                    <a:pt x="0" y="32452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3959" cy="39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61651" y="1754813"/>
            <a:ext cx="2640099" cy="5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3"/>
              </a:lnSpc>
            </a:pP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82749" y="7766601"/>
            <a:ext cx="2821062" cy="45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b="true" sz="24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Rachel Guo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54894" y="7783614"/>
            <a:ext cx="2825108" cy="45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46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Chaitanya Khot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27039" y="7783614"/>
            <a:ext cx="2825108" cy="45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b="true" sz="246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Adeyemi Olalemi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09432" y="8151671"/>
            <a:ext cx="2571743" cy="40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MSBA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81577" y="8168683"/>
            <a:ext cx="2571743" cy="40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MSBA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3722" y="8168683"/>
            <a:ext cx="2571743" cy="40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MBA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13939" y="-1074164"/>
            <a:ext cx="5917909" cy="2966988"/>
            <a:chOff x="0" y="0"/>
            <a:chExt cx="1025355" cy="5140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5355" cy="514069"/>
            </a:xfrm>
            <a:custGeom>
              <a:avLst/>
              <a:gdLst/>
              <a:ahLst/>
              <a:cxnLst/>
              <a:rect r="r" b="b" t="t" l="l"/>
              <a:pathLst>
                <a:path h="514069" w="1025355">
                  <a:moveTo>
                    <a:pt x="1025355" y="257035"/>
                  </a:moveTo>
                  <a:lnTo>
                    <a:pt x="822155" y="514069"/>
                  </a:lnTo>
                  <a:lnTo>
                    <a:pt x="203200" y="514069"/>
                  </a:lnTo>
                  <a:lnTo>
                    <a:pt x="0" y="257035"/>
                  </a:lnTo>
                  <a:lnTo>
                    <a:pt x="203200" y="0"/>
                  </a:lnTo>
                  <a:lnTo>
                    <a:pt x="822155" y="0"/>
                  </a:lnTo>
                  <a:lnTo>
                    <a:pt x="1025355" y="257035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66675"/>
              <a:ext cx="796755" cy="580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989499" y="3443639"/>
            <a:ext cx="1543050" cy="2567527"/>
            <a:chOff x="0" y="0"/>
            <a:chExt cx="406400" cy="6762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0768" y="1621463"/>
            <a:ext cx="547264" cy="910608"/>
            <a:chOff x="0" y="0"/>
            <a:chExt cx="406400" cy="6762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14313939" y="158550"/>
            <a:ext cx="1543050" cy="2567527"/>
            <a:chOff x="0" y="0"/>
            <a:chExt cx="406400" cy="67622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8EF6">
                <a:alpha val="46667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41281" y="4327033"/>
            <a:ext cx="3546125" cy="3258212"/>
            <a:chOff x="0" y="0"/>
            <a:chExt cx="4728166" cy="4344282"/>
          </a:xfrm>
        </p:grpSpPr>
        <p:pic>
          <p:nvPicPr>
            <p:cNvPr name="Picture 37" id="37"/>
            <p:cNvPicPr>
              <a:picLocks noChangeAspect="true"/>
            </p:cNvPicPr>
            <p:nvPr/>
          </p:nvPicPr>
          <p:blipFill>
            <a:blip r:embed="rId5"/>
            <a:srcRect l="28573" t="28349" r="30277" b="14834"/>
            <a:stretch>
              <a:fillRect/>
            </a:stretch>
          </p:blipFill>
          <p:spPr>
            <a:xfrm flipH="false" flipV="false">
              <a:off x="0" y="0"/>
              <a:ext cx="4728166" cy="4344282"/>
            </a:xfrm>
            <a:prstGeom prst="rect">
              <a:avLst/>
            </a:prstGeom>
          </p:spPr>
        </p:pic>
      </p:grpSp>
      <p:grpSp>
        <p:nvGrpSpPr>
          <p:cNvPr name="Group 38" id="38"/>
          <p:cNvGrpSpPr/>
          <p:nvPr/>
        </p:nvGrpSpPr>
        <p:grpSpPr>
          <a:xfrm rot="0">
            <a:off x="13741281" y="7585245"/>
            <a:ext cx="3546125" cy="1232176"/>
            <a:chOff x="0" y="0"/>
            <a:chExt cx="933959" cy="3245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3959" cy="324524"/>
            </a:xfrm>
            <a:custGeom>
              <a:avLst/>
              <a:gdLst/>
              <a:ahLst/>
              <a:cxnLst/>
              <a:rect r="r" b="b" t="t" l="l"/>
              <a:pathLst>
                <a:path h="324524" w="933959">
                  <a:moveTo>
                    <a:pt x="0" y="0"/>
                  </a:moveTo>
                  <a:lnTo>
                    <a:pt x="933959" y="0"/>
                  </a:lnTo>
                  <a:lnTo>
                    <a:pt x="933959" y="324524"/>
                  </a:lnTo>
                  <a:lnTo>
                    <a:pt x="0" y="324524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33959" cy="391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3510911" y="7783614"/>
            <a:ext cx="3987815" cy="43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0"/>
              </a:lnSpc>
            </a:pPr>
            <a:r>
              <a:rPr lang="en-US" b="true" sz="236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Avikalp (Avi) Karrahe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28472" y="8168683"/>
            <a:ext cx="2571743" cy="40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1"/>
              </a:lnSpc>
            </a:pPr>
            <a:r>
              <a:rPr lang="en-US" sz="22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MSBA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03811" y="3353988"/>
            <a:ext cx="9219618" cy="69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4338" spc="34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FARMERS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12142" y="4787459"/>
            <a:ext cx="2883991" cy="81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6"/>
              </a:lnSpc>
              <a:spcBef>
                <a:spcPct val="0"/>
              </a:spcBef>
            </a:pPr>
            <a:r>
              <a:rPr lang="en-US" b="true" sz="4590">
                <a:solidFill>
                  <a:srgbClr val="1140A5"/>
                </a:solidFill>
                <a:latin typeface="Poppins Bold"/>
                <a:ea typeface="Poppins Bold"/>
                <a:cs typeface="Poppins Bold"/>
                <a:sym typeface="Poppins Bold"/>
              </a:rPr>
              <a:t>Appendix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264" cy="910608"/>
            <a:chOff x="0" y="0"/>
            <a:chExt cx="406400" cy="676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46996" y="1190697"/>
            <a:ext cx="586614" cy="586614"/>
          </a:xfrm>
          <a:custGeom>
            <a:avLst/>
            <a:gdLst/>
            <a:ahLst/>
            <a:cxnLst/>
            <a:rect r="r" b="b" t="t" l="l"/>
            <a:pathLst>
              <a:path h="586614" w="586614">
                <a:moveTo>
                  <a:pt x="0" y="0"/>
                </a:moveTo>
                <a:lnTo>
                  <a:pt x="586614" y="0"/>
                </a:lnTo>
                <a:lnTo>
                  <a:pt x="586614" y="586614"/>
                </a:lnTo>
                <a:lnTo>
                  <a:pt x="0" y="58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01401"/>
            <a:ext cx="5162996" cy="519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docs.google.com/document/d/1rLofHxQBDivH1W4DWxR3FTMTJSaRJD-ZPef3EEbkK1w/edit?usp=sharing"/>
              </a:rPr>
              <a:t>Executive Summary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colab.research.google.com/drive/1wYfaZ3K7YrOXjgDQWnhrrsYhQ1z3BPCA?usp=sharing"/>
              </a:rPr>
              <a:t>Disaster Prediction Model 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colab.research.google.com/drive/1yjw9BFEdrS39wPlqio3G05jNga4SmW63?usp=sharing"/>
              </a:rPr>
              <a:t>Tweet Classification Model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drive.google.com/file/d/12Xdmx-uU8g_MAGjfZOQXsQUQzSpNC3Qi/view?usp=sharing"/>
              </a:rPr>
              <a:t>Risk Visualization Dashboard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8" tooltip="https://docs.google.com/document/d/1nLjXpWE3XKXB4vDezPiH9n55J_4tbLU8k_O6Jqo2rLI/edit?usp=sharing"/>
              </a:rPr>
              <a:t>Decision Recommendation Module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drive.google.com/file/d/1lh2CgVbfKPJ2PmMDgAGC61-zm9QT6-vy/view?usp=sharing"/>
              </a:rPr>
              <a:t>Blockchain Ledger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0" tooltip="https://colab.research.google.com/drive/138C8DI8geB8Ltsk_VbqN-lHsd497VMB_?usp=sharing"/>
              </a:rPr>
              <a:t>Chatbot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1" tooltip="https://docs.google.com/document/d/1b3Ni33DdUls2w1q-RhJCb-WuwAOj3ImyWdIz5i2hL-M/edit?usp=sharing"/>
              </a:rPr>
              <a:t>Integration Blueprint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7471" y="990600"/>
            <a:ext cx="5989526" cy="89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3"/>
              </a:lnSpc>
            </a:pPr>
            <a:r>
              <a:rPr lang="en-US" sz="56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01401"/>
            <a:ext cx="12406833" cy="717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www.sciencedirect.com/science/article/pii/S2405844023042925"/>
              </a:rPr>
              <a:t>Blockchain-based fake news traceability and verification mechanism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www.arxiv.org/pdf/2503.00567"/>
              </a:rPr>
              <a:t>Predicting Cascading Failures in Power Systems using Machine Learning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pure.iiasa.ac.at/id/eprint/20429/1/s11115-025-00815-2.pdf"/>
              </a:rPr>
              <a:t>Artificial Intelligence Tools in Misinformation Management during Natural Disasters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5" tooltip="https://www.nowpublishers.com/article/DownloadSummary/ISY-037"/>
              </a:rPr>
              <a:t>Misinformation Detection: A Survey of AI Techniques and Research Challenges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6" tooltip="https://www.researchgate.net/publication/381420051_Machine_Learning_for_Disaster_Risk_Reduction_-_Review_and_Research_Directions"/>
              </a:rPr>
              <a:t>Machine Learning for Disaster Risk Reduction – Review and Research Directions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7" tooltip="https://www.preswald.com"/>
              </a:rPr>
              <a:t>Preswald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8" tooltip="https://www.lfdecentralizedtrust.org/projects/fabric"/>
              </a:rPr>
              <a:t>Hyperledger Fabric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9" tooltip="https://www.youtube.com/watch?v=1ORrdusUzeg"/>
              </a:rPr>
              <a:t>Introduction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0" tooltip="https://www.floodnet.nyc"/>
              </a:rPr>
              <a:t>FloodNet NYC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1" tooltip="https://pandas.pydata.org/docs/user_guide/index.html"/>
              </a:rPr>
              <a:t>Pandas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2" tooltip="https://docs.streamlit.io/get-started"/>
              </a:rPr>
              <a:t>Streamlit</a:t>
            </a:r>
          </a:p>
          <a:p>
            <a:pPr algn="just" marL="451288" indent="-225644" lvl="1">
              <a:lnSpc>
                <a:spcPts val="5225"/>
              </a:lnSpc>
              <a:buAutoNum type="arabicPeriod" startAt="1"/>
            </a:pP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3" tooltip="https://www.ebsco.com/research-starters/earth-and-atmospheric-sciences/hurricane-ian#:~:text=Hurricane%20Ian%20was%20a%20high,Cuba%2C%20and%20one%20in%20Virginia."/>
              </a:rPr>
              <a:t>E</a:t>
            </a:r>
            <a:r>
              <a:rPr lang="en-US" sz="20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4" tooltip="https://www.ebsco.com/research-starters/earth-and-atmospheric-sciences/hurricane-ian#:~:text=Hurricane%20Ian%20was%20a%20high,Cuba%2C%20and%20one%20in%20Virginia."/>
              </a:rPr>
              <a:t>BSCO </a:t>
            </a:r>
            <a:r>
              <a:rPr lang="en-US" sz="20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(Hurricane Ian)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57471" y="990600"/>
            <a:ext cx="9926951" cy="89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3"/>
              </a:lnSpc>
            </a:pPr>
            <a:r>
              <a:rPr lang="en-US" sz="56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Resources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47264" cy="910608"/>
            <a:chOff x="0" y="0"/>
            <a:chExt cx="406400" cy="6762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264" cy="910608"/>
            <a:chOff x="0" y="0"/>
            <a:chExt cx="406400" cy="676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9144000" y="3698935"/>
            <a:ext cx="19048" cy="4386432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090108" y="3797583"/>
            <a:ext cx="7088849" cy="3957270"/>
          </a:xfrm>
          <a:custGeom>
            <a:avLst/>
            <a:gdLst/>
            <a:ahLst/>
            <a:cxnLst/>
            <a:rect r="r" b="b" t="t" l="l"/>
            <a:pathLst>
              <a:path h="3957270" w="7088849">
                <a:moveTo>
                  <a:pt x="0" y="0"/>
                </a:moveTo>
                <a:lnTo>
                  <a:pt x="7088849" y="0"/>
                </a:lnTo>
                <a:lnTo>
                  <a:pt x="7088849" y="3957270"/>
                </a:lnTo>
                <a:lnTo>
                  <a:pt x="0" y="3957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1299" y="3797583"/>
            <a:ext cx="5998579" cy="3981557"/>
          </a:xfrm>
          <a:custGeom>
            <a:avLst/>
            <a:gdLst/>
            <a:ahLst/>
            <a:cxnLst/>
            <a:rect r="r" b="b" t="t" l="l"/>
            <a:pathLst>
              <a:path h="3981557" w="5998579">
                <a:moveTo>
                  <a:pt x="0" y="0"/>
                </a:moveTo>
                <a:lnTo>
                  <a:pt x="5998579" y="0"/>
                </a:lnTo>
                <a:lnTo>
                  <a:pt x="5998579" y="3981557"/>
                </a:lnTo>
                <a:lnTo>
                  <a:pt x="0" y="3981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57471" y="990600"/>
            <a:ext cx="9926951" cy="89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3"/>
              </a:lnSpc>
            </a:pPr>
            <a:r>
              <a:rPr lang="en-US" sz="56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99658" y="8018692"/>
            <a:ext cx="3269749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Severity Distribution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8842" y="8018692"/>
            <a:ext cx="4383494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 Feature Distributions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185" y="8699024"/>
            <a:ext cx="6742807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All categories have random noise and no inherent patterns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0077" y="8699024"/>
            <a:ext cx="700891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Severity scores are evenly distributed owing to synthetic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264" cy="910608"/>
            <a:chOff x="0" y="0"/>
            <a:chExt cx="406400" cy="676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5964" y="3828627"/>
            <a:ext cx="6546523" cy="3895181"/>
          </a:xfrm>
          <a:custGeom>
            <a:avLst/>
            <a:gdLst/>
            <a:ahLst/>
            <a:cxnLst/>
            <a:rect r="r" b="b" t="t" l="l"/>
            <a:pathLst>
              <a:path h="3895181" w="6546523">
                <a:moveTo>
                  <a:pt x="0" y="0"/>
                </a:moveTo>
                <a:lnTo>
                  <a:pt x="6546523" y="0"/>
                </a:lnTo>
                <a:lnTo>
                  <a:pt x="6546523" y="3895181"/>
                </a:lnTo>
                <a:lnTo>
                  <a:pt x="0" y="3895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H="true">
            <a:off x="9144000" y="3698935"/>
            <a:ext cx="19048" cy="4386432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182223" y="3828627"/>
            <a:ext cx="6546523" cy="3903364"/>
          </a:xfrm>
          <a:custGeom>
            <a:avLst/>
            <a:gdLst/>
            <a:ahLst/>
            <a:cxnLst/>
            <a:rect r="r" b="b" t="t" l="l"/>
            <a:pathLst>
              <a:path h="3903364" w="6546523">
                <a:moveTo>
                  <a:pt x="0" y="0"/>
                </a:moveTo>
                <a:lnTo>
                  <a:pt x="6546523" y="0"/>
                </a:lnTo>
                <a:lnTo>
                  <a:pt x="6546523" y="3903365"/>
                </a:lnTo>
                <a:lnTo>
                  <a:pt x="0" y="3903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82223" y="3828627"/>
            <a:ext cx="6532799" cy="3895181"/>
          </a:xfrm>
          <a:custGeom>
            <a:avLst/>
            <a:gdLst/>
            <a:ahLst/>
            <a:cxnLst/>
            <a:rect r="r" b="b" t="t" l="l"/>
            <a:pathLst>
              <a:path h="3895181" w="6532799">
                <a:moveTo>
                  <a:pt x="0" y="0"/>
                </a:moveTo>
                <a:lnTo>
                  <a:pt x="6532798" y="0"/>
                </a:lnTo>
                <a:lnTo>
                  <a:pt x="6532798" y="3895181"/>
                </a:lnTo>
                <a:lnTo>
                  <a:pt x="0" y="38951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57471" y="990600"/>
            <a:ext cx="9926951" cy="89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3"/>
              </a:lnSpc>
            </a:pPr>
            <a:r>
              <a:rPr lang="en-US" sz="56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99658" y="8018692"/>
            <a:ext cx="3269749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Model Comparison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35801" y="8018692"/>
            <a:ext cx="3269749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Importance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1882" y="8699024"/>
            <a:ext cx="5497413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Top Features: Severity, Wind Speed, Precipitation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09890" y="8699024"/>
            <a:ext cx="629118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Models have perfect accuracy owing to synthetic data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Results on real-world dataset may vary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7264" cy="910608"/>
            <a:chOff x="0" y="0"/>
            <a:chExt cx="406400" cy="6762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676221"/>
            </a:xfrm>
            <a:custGeom>
              <a:avLst/>
              <a:gdLst/>
              <a:ahLst/>
              <a:cxnLst/>
              <a:rect r="r" b="b" t="t" l="l"/>
              <a:pathLst>
                <a:path h="676221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338111"/>
                  </a:lnTo>
                  <a:lnTo>
                    <a:pt x="203200" y="676221"/>
                  </a:lnTo>
                  <a:lnTo>
                    <a:pt x="0" y="676221"/>
                  </a:lnTo>
                  <a:lnTo>
                    <a:pt x="203200" y="338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-66675"/>
              <a:ext cx="152400" cy="742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6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9144000" y="3698935"/>
            <a:ext cx="19048" cy="4386432"/>
          </a:xfrm>
          <a:prstGeom prst="line">
            <a:avLst/>
          </a:prstGeom>
          <a:ln cap="flat" w="381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77521" y="3698935"/>
            <a:ext cx="6586135" cy="4034007"/>
          </a:xfrm>
          <a:custGeom>
            <a:avLst/>
            <a:gdLst/>
            <a:ahLst/>
            <a:cxnLst/>
            <a:rect r="r" b="b" t="t" l="l"/>
            <a:pathLst>
              <a:path h="4034007" w="6586135">
                <a:moveTo>
                  <a:pt x="0" y="0"/>
                </a:moveTo>
                <a:lnTo>
                  <a:pt x="6586135" y="0"/>
                </a:lnTo>
                <a:lnTo>
                  <a:pt x="6586135" y="4034007"/>
                </a:lnTo>
                <a:lnTo>
                  <a:pt x="0" y="4034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37549" y="4006136"/>
            <a:ext cx="7793968" cy="3419604"/>
          </a:xfrm>
          <a:custGeom>
            <a:avLst/>
            <a:gdLst/>
            <a:ahLst/>
            <a:cxnLst/>
            <a:rect r="r" b="b" t="t" l="l"/>
            <a:pathLst>
              <a:path h="3419604" w="7793968">
                <a:moveTo>
                  <a:pt x="0" y="0"/>
                </a:moveTo>
                <a:lnTo>
                  <a:pt x="7793968" y="0"/>
                </a:lnTo>
                <a:lnTo>
                  <a:pt x="7793968" y="3419604"/>
                </a:lnTo>
                <a:lnTo>
                  <a:pt x="0" y="3419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57471" y="990600"/>
            <a:ext cx="9926951" cy="89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3"/>
              </a:lnSpc>
            </a:pPr>
            <a:r>
              <a:rPr lang="en-US" sz="563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40170" y="8014125"/>
            <a:ext cx="3588726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Sensor Readings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35801" y="8018692"/>
            <a:ext cx="3269749" cy="38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6"/>
              </a:lnSpc>
              <a:spcBef>
                <a:spcPct val="0"/>
              </a:spcBef>
            </a:pPr>
            <a:r>
              <a:rPr lang="en-US" b="true" sz="2090">
                <a:solidFill>
                  <a:srgbClr val="606062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Risk 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736" y="8699024"/>
            <a:ext cx="7555706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Low-risk to High-risk classification of zones based on disaster type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73026" y="8699024"/>
            <a:ext cx="852301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606062"/>
                </a:solidFill>
                <a:latin typeface="Poppins"/>
                <a:ea typeface="Poppins"/>
                <a:cs typeface="Poppins"/>
                <a:sym typeface="Poppins"/>
              </a:rPr>
              <a:t>Consistent scores across categories are expected owing to synthetic data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69663" y="95721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DAGknouQ1BM</dc:identifier>
  <dcterms:modified xsi:type="dcterms:W3CDTF">2011-08-01T06:04:30Z</dcterms:modified>
  <cp:revision>1</cp:revision>
  <dc:title>Online Business Intelligence</dc:title>
</cp:coreProperties>
</file>